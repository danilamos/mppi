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9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A735F-4EFF-401E-A978-973EA4FC7D91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E7F61-2F61-436C-8923-40A04C8F30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92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5C7C7-25BF-8CF5-DFE4-CB92F813A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42370A-98B4-AB85-5AC1-54A58F607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210148-2AF0-BCB3-1680-ED9776F53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CD59A-FE9B-4677-89DB-F864374876F1}" type="datetime1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945A7F-2F7C-0E33-C3A0-FEAD3B97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C6FFC1-64EF-1A24-8EDA-C8015642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16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7FC78-648C-B611-241E-D01448AA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FC6E77-FF60-5E30-7277-DF412F70B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E0AB33-C77D-9CB7-D7D6-2A08AB154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6A70-38A0-419D-AD1E-21576EF43FE0}" type="datetime1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5474A5-E143-910F-E900-947858C5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C0588E-EF1F-55F7-8A1C-BF70A224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33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1C04B-A836-ED46-DF6E-20AB67764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61A621-BF00-0A63-5EFA-CF1E81D4A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B8A878-0CB7-717F-98EA-B0D589BA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14F72-E33E-4C0C-AB3B-E119EC043FFE}" type="datetime1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BB5D1-55A7-A5E8-9F31-7DE149280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90B7F7-A621-B44E-D39A-7CD3C24C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87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CE350-A31C-5FA0-91DB-537FF5242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9392F1-53E7-F5D5-4737-3431A23E7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A868E0-0FF4-B917-3801-0C2C63609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24EFB4-7B6A-7408-F9FB-9452493F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244C0-B631-4D59-A746-AD3820C436BC}" type="datetime1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F40924-179F-78A8-AF65-E7C14949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BFCC05-472A-C1CF-66E4-1DA9BF91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39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8E385-4346-9BDA-32B2-14D317AE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E1DFF4-D210-1012-6463-A019EC403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0EC962-5390-6B6B-8EB0-53BE16217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C8CCDA-3D99-69D9-658F-F6DB0B6D1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481267-39C3-3362-2DBE-900DB5EBBC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2095113-1576-4FBA-AF0D-092D5DF44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FBD24-1C47-4238-BA4E-CCC2912267FC}" type="datetime1">
              <a:rPr lang="ru-RU" smtClean="0"/>
              <a:t>02.03.2026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8D78618-9307-292B-01A4-584655ABC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7DE5854-AB8E-80E9-76DE-F23C6FF7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311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404B5-6070-3E7E-2315-24946425C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CC0C6B-9821-C4FC-11E0-CDEDF81DB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57B40-E081-400C-B940-57BF6251BB6F}" type="datetime1">
              <a:rPr lang="ru-RU" smtClean="0"/>
              <a:t>02.03.2026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E6614A-E700-6E6D-87AE-7E517F73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1D7A09-7039-566F-D747-8A2E222A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16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8613B40-F78D-5A7C-B323-025FADD5D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5F44-8490-4207-BDBE-60BFD7BAEC5D}" type="datetime1">
              <a:rPr lang="ru-RU" smtClean="0"/>
              <a:t>02.03.2026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7FD54C-7E05-77D9-4EEF-BBB40F71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9009FB-43C5-D0C9-849D-D3BEC2A2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49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DCD6A-5125-EFC3-6152-490DCC18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8520B8-98C9-A59A-A1FF-D83F89DC3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9E13B1-A25E-A0C8-0CB1-02C4D5515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EE692E-AC68-3F4A-2418-C4E190A6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C5F2-225C-4A3D-9B3E-1E9826481723}" type="datetime1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9611B7-6EDE-C437-E2D1-3CADEB79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50FC2C-C0EE-E742-2478-CDD9150F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98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6B4E5-E226-8964-CAB0-22B8CD74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79A8959-DA1A-EC2E-C8BB-65412552D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A85883-57E9-7A04-A67A-6832040CD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4C4262-5AA4-F29D-C8BB-3F377581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0A90D-B447-4FF4-BF64-03DFB3CC5420}" type="datetime1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4F85BD-BD2F-5E97-8CE9-A71E679A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84C4F7-CD29-220A-E9A7-96E74E67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9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D9BF0-5B88-3C90-2F95-22D18A879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C9691A-8A21-F6BC-A7CA-5BE20D22B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ADAACD-C4D4-6A77-5025-2435EB073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9-EA16-4311-AA89-26F3FA432F6C}" type="datetime1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46844B-7F04-043E-525C-851AA861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41FD2A-6989-B34F-8359-EC6A7967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31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771D76F-EFBC-5B6A-F5D4-CEC5A5DE7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7C624C-CD5E-F7DC-7539-0386B49BB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62D389-F278-0F79-0163-FF133DDA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982D-31DC-49A5-8DD1-E6A4B326C4ED}" type="datetime1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C4C3B0-1DE9-5AAB-B527-3B9B12A72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3239A8-82B8-D050-3CD4-81CD3701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048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B5E1C6-CFC8-9E0E-1802-CD27E91FE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8F0413-4022-E6E9-E877-2261F7BB2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B1ECF2-2DC9-E498-A840-DBBAB12B0E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C4AEC-9D41-4117-818B-16B51DB4A224}" type="datetime1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C4D91B-566D-3D68-C6B7-A9EEC60C2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788314-F091-F65F-00EA-524837FC3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B72BD-70ED-4893-B412-05B6168872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84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media" Target="../media/media1.mp4"/><Relationship Id="rId7" Type="http://schemas.openxmlformats.org/officeDocument/2006/relationships/image" Target="../media/image16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6.xml"/><Relationship Id="rId4" Type="http://schemas.openxmlformats.org/officeDocument/2006/relationships/video" Target="../media/media1.mp4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154CE-523A-C368-E106-FE71670808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MPPI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05B16A-BF95-955F-01E2-F9C5881EEE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Москвитин Данила</a:t>
            </a:r>
          </a:p>
          <a:p>
            <a:pPr algn="r"/>
            <a:r>
              <a:rPr lang="en-US" dirty="0"/>
              <a:t>M24-RO-01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5C2BEA-A6C9-67B7-AD0D-1D498D0D8E06}"/>
              </a:ext>
            </a:extLst>
          </p:cNvPr>
          <p:cNvSpPr/>
          <p:nvPr/>
        </p:nvSpPr>
        <p:spPr>
          <a:xfrm>
            <a:off x="0" y="0"/>
            <a:ext cx="3600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772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4D9FA-6CAC-0FAA-CC79-F356B633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Основа алгоритма </a:t>
            </a:r>
            <a:r>
              <a:rPr lang="en-US" dirty="0"/>
              <a:t>MPPI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6A1076-A64B-8C05-2C65-5087E8DEA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27" t="28711" r="52378" b="30514"/>
          <a:stretch>
            <a:fillRect/>
          </a:stretch>
        </p:blipFill>
        <p:spPr>
          <a:xfrm rot="16200000">
            <a:off x="2852149" y="3559394"/>
            <a:ext cx="3061567" cy="35052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7E08B-C008-90A9-4B57-43CCBD4A86B4}"/>
                  </a:ext>
                </a:extLst>
              </p:cNvPr>
              <p:cNvSpPr txBox="1"/>
              <p:nvPr/>
            </p:nvSpPr>
            <p:spPr>
              <a:xfrm>
                <a:off x="838199" y="1690688"/>
                <a:ext cx="52578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ru-RU" sz="2000" dirty="0"/>
                  <a:t>Модель динамики системы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342900" indent="-342900">
                  <a:buAutoNum type="arabicPeriod"/>
                </a:pPr>
                <a:r>
                  <a:rPr lang="ru-RU" sz="2000" dirty="0"/>
                  <a:t>Управляющая последовательность </a:t>
                </a:r>
                <a:r>
                  <a:rPr lang="en-US" sz="2000" dirty="0"/>
                  <a:t>u</a:t>
                </a:r>
                <a:endParaRPr lang="ru-RU" sz="2000" dirty="0"/>
              </a:p>
              <a:p>
                <a:pPr marL="342900" indent="-342900">
                  <a:buAutoNum type="arabicPeriod"/>
                </a:pPr>
                <a:r>
                  <a:rPr lang="ru-RU" sz="2000" dirty="0"/>
                  <a:t>Генерация </a:t>
                </a:r>
                <a:r>
                  <a:rPr lang="en-US" sz="2000" dirty="0"/>
                  <a:t>K </a:t>
                </a:r>
                <a:r>
                  <a:rPr lang="ru-RU" sz="2000" dirty="0"/>
                  <a:t>случайных траекторий</a:t>
                </a:r>
              </a:p>
              <a:p>
                <a:pPr marL="342900" indent="-342900">
                  <a:buAutoNum type="arabicPeriod"/>
                </a:pPr>
                <a:r>
                  <a:rPr lang="ru-RU" sz="2000" dirty="0"/>
                  <a:t>Вычисление стоимости каждой траектории</a:t>
                </a:r>
              </a:p>
              <a:p>
                <a:pPr marL="342900" indent="-342900">
                  <a:buAutoNum type="arabicPeriod"/>
                </a:pPr>
                <a:r>
                  <a:rPr lang="ru-RU" sz="2000" dirty="0"/>
                  <a:t>Присвоить веса каждой траектории</a:t>
                </a:r>
              </a:p>
              <a:p>
                <a:pPr marL="342900" indent="-342900">
                  <a:buAutoNum type="arabicPeriod"/>
                </a:pPr>
                <a:r>
                  <a:rPr lang="ru-RU" sz="2000" dirty="0"/>
                  <a:t>Итоговое управление – взвешенное среднее возмущений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F7E08B-C008-90A9-4B57-43CCBD4A8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90688"/>
                <a:ext cx="5257800" cy="2246769"/>
              </a:xfrm>
              <a:prstGeom prst="rect">
                <a:avLst/>
              </a:prstGeom>
              <a:blipFill>
                <a:blip r:embed="rId3"/>
                <a:stretch>
                  <a:fillRect l="-1159" t="-1626" r="-232" b="-3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C531044-2FF6-AFA7-1550-923FDEA15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175" y="1977531"/>
            <a:ext cx="3029373" cy="40963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F7DDB9D-3C65-2EB7-AE5A-C6396A6BC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5990" y="2561317"/>
            <a:ext cx="2981741" cy="39058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089E2A4-F076-CEBF-7133-C08E12A6F2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2175" y="4988628"/>
            <a:ext cx="2686425" cy="79068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2E3454-746A-33BF-9DEE-6B4F53FEE7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4043" y="4075395"/>
            <a:ext cx="3305636" cy="64779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F01FECB-D9B3-F7BC-7650-1FE82ED06C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1042" y="3090116"/>
            <a:ext cx="4391638" cy="8002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117B482-4234-108C-2713-84B807AB9672}"/>
              </a:ext>
            </a:extLst>
          </p:cNvPr>
          <p:cNvSpPr txBox="1"/>
          <p:nvPr/>
        </p:nvSpPr>
        <p:spPr>
          <a:xfrm rot="19670503">
            <a:off x="2910718" y="5443239"/>
            <a:ext cx="113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cost = 200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F4E395-B933-32BB-41C9-1CAFFC8AA455}"/>
              </a:ext>
            </a:extLst>
          </p:cNvPr>
          <p:cNvSpPr txBox="1"/>
          <p:nvPr/>
        </p:nvSpPr>
        <p:spPr>
          <a:xfrm rot="20536435">
            <a:off x="2339310" y="4099603"/>
            <a:ext cx="113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cost = 200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47BBFD-4467-2461-B924-1D577DB743EE}"/>
              </a:ext>
            </a:extLst>
          </p:cNvPr>
          <p:cNvSpPr txBox="1"/>
          <p:nvPr/>
        </p:nvSpPr>
        <p:spPr>
          <a:xfrm rot="19488444">
            <a:off x="1969215" y="5148841"/>
            <a:ext cx="904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cost = 1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E025E89-4F5C-ECA1-23E0-0DE209FA40A9}"/>
              </a:ext>
            </a:extLst>
          </p:cNvPr>
          <p:cNvSpPr/>
          <p:nvPr/>
        </p:nvSpPr>
        <p:spPr>
          <a:xfrm>
            <a:off x="-1" y="0"/>
            <a:ext cx="540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7D63A70-7EF1-0B3A-D7C5-5B3F510F6A2C}"/>
              </a:ext>
            </a:extLst>
          </p:cNvPr>
          <p:cNvSpPr/>
          <p:nvPr/>
        </p:nvSpPr>
        <p:spPr>
          <a:xfrm>
            <a:off x="7541042" y="1690688"/>
            <a:ext cx="4391638" cy="4409440"/>
          </a:xfrm>
          <a:prstGeom prst="rect">
            <a:avLst/>
          </a:prstGeom>
          <a:solidFill>
            <a:schemeClr val="bg2">
              <a:alpha val="0"/>
            </a:schemeClr>
          </a:solidFill>
          <a:ln w="28575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919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E0354-E581-D16E-B86D-ED6D6420A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Основные преимущества </a:t>
            </a:r>
            <a:r>
              <a:rPr lang="en-US" dirty="0"/>
              <a:t>MPPI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A46128F-BA1E-D9E0-0589-8067282AC34E}"/>
              </a:ext>
            </a:extLst>
          </p:cNvPr>
          <p:cNvSpPr/>
          <p:nvPr/>
        </p:nvSpPr>
        <p:spPr>
          <a:xfrm>
            <a:off x="-1" y="0"/>
            <a:ext cx="540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7D721-6E29-D0FD-5A4D-42A64496333A}"/>
              </a:ext>
            </a:extLst>
          </p:cNvPr>
          <p:cNvSpPr txBox="1"/>
          <p:nvPr/>
        </p:nvSpPr>
        <p:spPr>
          <a:xfrm>
            <a:off x="3327662" y="1690688"/>
            <a:ext cx="5536676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Оптимальное управление без необходимости дифференцирования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Работа с нелинейностями без необходимости линеаризации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400" dirty="0"/>
              <a:t>Параллельные вычисления</a:t>
            </a:r>
          </a:p>
        </p:txBody>
      </p:sp>
    </p:spTree>
    <p:extLst>
      <p:ext uri="{BB962C8B-B14F-4D97-AF65-F5344CB8AC3E}">
        <p14:creationId xmlns:p14="http://schemas.microsoft.com/office/powerpoint/2010/main" val="2294467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B6DAE6-91EB-7AD2-263D-8D9B2CDC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Основная проблема метода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CE31D-CD54-C706-B70B-7BA6630870F7}"/>
              </a:ext>
            </a:extLst>
          </p:cNvPr>
          <p:cNvSpPr txBox="1"/>
          <p:nvPr/>
        </p:nvSpPr>
        <p:spPr>
          <a:xfrm>
            <a:off x="838200" y="1690688"/>
            <a:ext cx="60738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MPPI требует точной модели динамики:</a:t>
            </a:r>
          </a:p>
          <a:p>
            <a:endParaRPr lang="ru-RU" sz="2400" dirty="0"/>
          </a:p>
          <a:p>
            <a:r>
              <a:rPr lang="ru-RU" sz="2400" dirty="0"/>
              <a:t>Неточность модели → ошибки предсказания</a:t>
            </a:r>
          </a:p>
          <a:p>
            <a:r>
              <a:rPr lang="ru-RU" sz="2400" dirty="0"/>
              <a:t>Ошибки → ухудшение качества управления</a:t>
            </a:r>
          </a:p>
          <a:p>
            <a:endParaRPr lang="ru-RU" sz="2400" dirty="0"/>
          </a:p>
          <a:p>
            <a:r>
              <a:rPr lang="ru-RU" sz="2400" dirty="0"/>
              <a:t>Цель: повысить устойчивость MPPI к ошибкам модели</a:t>
            </a:r>
          </a:p>
        </p:txBody>
      </p:sp>
      <p:pic>
        <p:nvPicPr>
          <p:cNvPr id="4" name="my_try_not_enhanced">
            <a:hlinkClick r:id="" action="ppaction://media"/>
            <a:extLst>
              <a:ext uri="{FF2B5EF4-FFF2-40B4-BE49-F238E27FC236}">
                <a16:creationId xmlns:a16="http://schemas.microsoft.com/office/drawing/2014/main" id="{9CA815C0-FBDA-9DF1-0CE3-50C66D4F3A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18438" y="1671834"/>
            <a:ext cx="3429000" cy="342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26C65C3-2BBB-A653-FF38-40A5BBB6C58C}"/>
              </a:ext>
            </a:extLst>
          </p:cNvPr>
          <p:cNvSpPr/>
          <p:nvPr/>
        </p:nvSpPr>
        <p:spPr>
          <a:xfrm>
            <a:off x="-1" y="0"/>
            <a:ext cx="540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4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CB20D-F7BE-EB0A-9E08-8E5531892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Предлагаемые методы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B29FC-5ADB-3A47-9C81-0A2BCE160EE5}"/>
              </a:ext>
            </a:extLst>
          </p:cNvPr>
          <p:cNvSpPr txBox="1"/>
          <p:nvPr/>
        </p:nvSpPr>
        <p:spPr>
          <a:xfrm>
            <a:off x="1184398" y="2325678"/>
            <a:ext cx="39132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Плохо знаем параметры модели:</a:t>
            </a:r>
          </a:p>
          <a:p>
            <a:pPr algn="ctr"/>
            <a:endParaRPr lang="ru-RU" sz="2000" dirty="0"/>
          </a:p>
          <a:p>
            <a:pPr algn="ctr"/>
            <a:r>
              <a:rPr lang="ru-RU" sz="2000" b="1" dirty="0"/>
              <a:t>Параметрический </a:t>
            </a:r>
            <a:r>
              <a:rPr lang="en-US" sz="2000" b="1" dirty="0"/>
              <a:t>MPPI</a:t>
            </a:r>
            <a:endParaRPr lang="ru-RU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AA88CD-6283-8902-8741-B03C16962052}"/>
              </a:ext>
            </a:extLst>
          </p:cNvPr>
          <p:cNvSpPr txBox="1"/>
          <p:nvPr/>
        </p:nvSpPr>
        <p:spPr>
          <a:xfrm>
            <a:off x="7205674" y="2321695"/>
            <a:ext cx="3441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Неучтенные процессы в модели</a:t>
            </a:r>
            <a:r>
              <a:rPr lang="en-US" dirty="0"/>
              <a:t>:</a:t>
            </a:r>
          </a:p>
          <a:p>
            <a:pPr algn="ctr"/>
            <a:endParaRPr lang="en-US" dirty="0"/>
          </a:p>
          <a:p>
            <a:pPr algn="ctr"/>
            <a:r>
              <a:rPr lang="ru-RU" b="1" dirty="0"/>
              <a:t>Авторегрессия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1FA4F8-E5C0-46FF-5BBF-2678038E9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27" t="28711" r="52378" b="30514"/>
          <a:stretch>
            <a:fillRect/>
          </a:stretch>
        </p:blipFill>
        <p:spPr>
          <a:xfrm rot="16200000">
            <a:off x="1610235" y="3134878"/>
            <a:ext cx="3061567" cy="350527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F74133-BF21-DBDA-9B3F-5419D9C32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27" t="28711" r="52378" b="30514"/>
          <a:stretch>
            <a:fillRect/>
          </a:stretch>
        </p:blipFill>
        <p:spPr>
          <a:xfrm rot="16200000">
            <a:off x="7395536" y="3207148"/>
            <a:ext cx="3061567" cy="3505272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F9E539B-8E32-B32C-C40C-648643659EFF}"/>
              </a:ext>
            </a:extLst>
          </p:cNvPr>
          <p:cNvCxnSpPr>
            <a:cxnSpLocks/>
          </p:cNvCxnSpPr>
          <p:nvPr/>
        </p:nvCxnSpPr>
        <p:spPr>
          <a:xfrm>
            <a:off x="9086092" y="3716595"/>
            <a:ext cx="0" cy="124318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FCFBB4A-4CA5-E6C9-1E49-9557DBE75768}"/>
              </a:ext>
            </a:extLst>
          </p:cNvPr>
          <p:cNvSpPr txBox="1"/>
          <p:nvPr/>
        </p:nvSpPr>
        <p:spPr>
          <a:xfrm>
            <a:off x="7687824" y="5540510"/>
            <a:ext cx="2796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Неучтенный фактор: ветер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C0D037-1F5F-4A90-0EC2-09955740E217}"/>
                  </a:ext>
                </a:extLst>
              </p:cNvPr>
              <p:cNvSpPr txBox="1"/>
              <p:nvPr/>
            </p:nvSpPr>
            <p:spPr>
              <a:xfrm>
                <a:off x="9102887" y="3506699"/>
                <a:ext cx="7796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𝑤𝑖𝑛𝑑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C0D037-1F5F-4A90-0EC2-09955740E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887" y="3506699"/>
                <a:ext cx="7796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B6832A97-B489-A8B7-D7DA-4B158FB45A28}"/>
              </a:ext>
            </a:extLst>
          </p:cNvPr>
          <p:cNvCxnSpPr>
            <a:cxnSpLocks/>
          </p:cNvCxnSpPr>
          <p:nvPr/>
        </p:nvCxnSpPr>
        <p:spPr>
          <a:xfrm flipH="1">
            <a:off x="2967479" y="3849991"/>
            <a:ext cx="70104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E47311-339C-23F3-D678-FD6DC6FCE48B}"/>
                  </a:ext>
                </a:extLst>
              </p:cNvPr>
              <p:cNvSpPr txBox="1"/>
              <p:nvPr/>
            </p:nvSpPr>
            <p:spPr>
              <a:xfrm>
                <a:off x="3645426" y="3619743"/>
                <a:ext cx="1256626" cy="378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𝑤h𝑒𝑒𝑙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E47311-339C-23F3-D678-FD6DC6FCE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426" y="3619743"/>
                <a:ext cx="1256626" cy="3786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C2191F5-0E63-0D66-36BF-E14DCBA78FC3}"/>
              </a:ext>
            </a:extLst>
          </p:cNvPr>
          <p:cNvSpPr txBox="1"/>
          <p:nvPr/>
        </p:nvSpPr>
        <p:spPr>
          <a:xfrm>
            <a:off x="903139" y="5590660"/>
            <a:ext cx="4829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Неточно знаем параметр длины колесной базы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70B101B0-517C-6674-AD8B-3736F5A4F6D6}"/>
              </a:ext>
            </a:extLst>
          </p:cNvPr>
          <p:cNvCxnSpPr>
            <a:stCxn id="2" idx="2"/>
          </p:cNvCxnSpPr>
          <p:nvPr/>
        </p:nvCxnSpPr>
        <p:spPr>
          <a:xfrm>
            <a:off x="6096000" y="1690688"/>
            <a:ext cx="0" cy="5167312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554FB88-EE4D-952D-C68E-08579771A40C}"/>
              </a:ext>
            </a:extLst>
          </p:cNvPr>
          <p:cNvSpPr/>
          <p:nvPr/>
        </p:nvSpPr>
        <p:spPr>
          <a:xfrm>
            <a:off x="-1" y="0"/>
            <a:ext cx="540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479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AC7E3-7066-FA66-307D-842E80FF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Параметрический </a:t>
            </a:r>
            <a:r>
              <a:rPr lang="en-US" dirty="0"/>
              <a:t>MPPI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CC7F9F-FB36-52DA-F05E-DBFC2BD8353A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631444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ru-RU" sz="2000" dirty="0"/>
                  <a:t>Записываем пройденную траекторию </a:t>
                </a: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000" dirty="0"/>
                  <a:t>Пробуем запустить </a:t>
                </a:r>
                <a:r>
                  <a:rPr lang="en-US" sz="2000" dirty="0"/>
                  <a:t>MPPI </a:t>
                </a:r>
                <a:r>
                  <a:rPr lang="ru-RU" sz="2000" dirty="0"/>
                  <a:t>варьируя не управление, а параметр, который плохо знаем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000" dirty="0"/>
                  <a:t>Оцениваем траектории, по тому насколько близко они к реально пройденной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000" dirty="0"/>
                  <a:t>Обновляем параметр как средневзвешенный</a:t>
                </a:r>
                <a:r>
                  <a:rPr lang="en-US" sz="2000" dirty="0"/>
                  <a:t> </a:t>
                </a:r>
                <a:endParaRPr lang="ru-RU" sz="2000" dirty="0"/>
              </a:p>
              <a:p>
                <a:endParaRPr lang="ru-RU" sz="2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CC7F9F-FB36-52DA-F05E-DBFC2BD83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6314440" cy="2246769"/>
              </a:xfrm>
              <a:prstGeom prst="rect">
                <a:avLst/>
              </a:prstGeom>
              <a:blipFill>
                <a:blip r:embed="rId2"/>
                <a:stretch>
                  <a:fillRect l="-1063" t="-1626" r="-10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2C3C66-5D6D-3C55-FD0F-4CAD2E226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562" y="1824072"/>
            <a:ext cx="4734783" cy="19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2B604E-44FB-9775-CF49-9C4409F91F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562" y="3966586"/>
            <a:ext cx="4734783" cy="19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C40D35-2259-47AB-F115-FBC0F2A7DC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934" y="3966586"/>
            <a:ext cx="4000306" cy="19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111EE2A-AF1D-F2ED-49C4-CDD5D5AD880E}"/>
              </a:ext>
            </a:extLst>
          </p:cNvPr>
          <p:cNvSpPr/>
          <p:nvPr/>
        </p:nvSpPr>
        <p:spPr>
          <a:xfrm>
            <a:off x="-1" y="0"/>
            <a:ext cx="540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3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EB0C9-EAD4-5892-85F6-9E075E5C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Авторегрессия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EB7295-F428-CC0A-35BC-8FF1021AC1A9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631444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ru-RU" sz="2000" dirty="0"/>
                  <a:t>Записываем пройденную траекторию </a:t>
                </a:r>
                <a14:m>
                  <m:oMath xmlns:m="http://schemas.openxmlformats.org/officeDocument/2006/math"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000" dirty="0"/>
                  <a:t>Вычисляем ошибки между выходом модели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 реальными положениями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000" dirty="0"/>
                  <a:t>Составляем линейную регрессию по наблюдениям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000" dirty="0"/>
                  <a:t>Обновляем коэффициенты регрессии при помощи рекурсивного метода наименьших квадратов (</a:t>
                </a:r>
                <a:r>
                  <a:rPr lang="en-US" sz="2000" dirty="0"/>
                  <a:t>RLS</a:t>
                </a:r>
                <a:r>
                  <a:rPr lang="ru-RU" sz="2000" dirty="0"/>
                  <a:t>)</a:t>
                </a: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000" dirty="0"/>
                  <a:t>Предсказываем ошибку на следующий шаг и вносим поправку в модель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EB7295-F428-CC0A-35BC-8FF1021AC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6314440" cy="2554545"/>
              </a:xfrm>
              <a:prstGeom prst="rect">
                <a:avLst/>
              </a:prstGeom>
              <a:blipFill>
                <a:blip r:embed="rId6"/>
                <a:stretch>
                  <a:fillRect l="-1063" t="-1432" b="-33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FD237D-1650-FC25-4594-73AFF44283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2575" y="4703900"/>
            <a:ext cx="3505689" cy="866896"/>
          </a:xfrm>
          <a:prstGeom prst="rect">
            <a:avLst/>
          </a:prstGeom>
          <a:ln w="28575">
            <a:solidFill>
              <a:schemeClr val="accent1"/>
            </a:solidFill>
            <a:prstDash val="dash"/>
          </a:ln>
        </p:spPr>
      </p:pic>
      <p:pic>
        <p:nvPicPr>
          <p:cNvPr id="7" name="my_try_enhanced">
            <a:hlinkClick r:id="" action="ppaction://media"/>
            <a:extLst>
              <a:ext uri="{FF2B5EF4-FFF2-40B4-BE49-F238E27FC236}">
                <a16:creationId xmlns:a16="http://schemas.microsoft.com/office/drawing/2014/main" id="{71E6E1D7-C75D-E344-B598-EB100063AEC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617489" y="3485990"/>
            <a:ext cx="3168000" cy="316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my_try_not_enhanced">
            <a:hlinkClick r:id="" action="ppaction://media"/>
            <a:extLst>
              <a:ext uri="{FF2B5EF4-FFF2-40B4-BE49-F238E27FC236}">
                <a16:creationId xmlns:a16="http://schemas.microsoft.com/office/drawing/2014/main" id="{B29577DE-D62B-3CF0-E061-18CFF6D57A9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617489" y="213865"/>
            <a:ext cx="3168000" cy="316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7B3142D-8880-AFD0-3F89-7349A8C7A1CD}"/>
              </a:ext>
            </a:extLst>
          </p:cNvPr>
          <p:cNvSpPr/>
          <p:nvPr/>
        </p:nvSpPr>
        <p:spPr>
          <a:xfrm>
            <a:off x="-1" y="0"/>
            <a:ext cx="5400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07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202</Words>
  <Application>Microsoft Office PowerPoint</Application>
  <PresentationFormat>Широкоэкранный</PresentationFormat>
  <Paragraphs>46</Paragraphs>
  <Slides>7</Slides>
  <Notes>0</Notes>
  <HiddenSlides>0</HiddenSlides>
  <MMClips>3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Тема Office</vt:lpstr>
      <vt:lpstr>MPPI</vt:lpstr>
      <vt:lpstr>Основа алгоритма MPPI</vt:lpstr>
      <vt:lpstr>Основные преимущества MPPI</vt:lpstr>
      <vt:lpstr>Основная проблема метода</vt:lpstr>
      <vt:lpstr>Предлагаемые методы</vt:lpstr>
      <vt:lpstr>Параметрический MPPI</vt:lpstr>
      <vt:lpstr>Авторегрессия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Данила Москвитин</dc:creator>
  <cp:lastModifiedBy>Данила Москвитин</cp:lastModifiedBy>
  <cp:revision>2</cp:revision>
  <dcterms:created xsi:type="dcterms:W3CDTF">2026-03-02T16:28:13Z</dcterms:created>
  <dcterms:modified xsi:type="dcterms:W3CDTF">2026-03-02T18:33:26Z</dcterms:modified>
</cp:coreProperties>
</file>